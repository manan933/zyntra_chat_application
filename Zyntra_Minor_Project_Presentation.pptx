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202C"/>
                </a:solidFill>
              </a:defRPr>
            </a:pPr>
            <a:r>
              <a:t>SCHOOL OF ENGINEERING AND TECHNOLOGY</a:t>
            </a:r>
          </a:p>
          <a:p>
            <a:pPr>
              <a:spcAft>
                <a:spcPts val="1200"/>
              </a:spcAft>
              <a:defRPr sz="1400" b="1">
                <a:solidFill>
                  <a:srgbClr val="2E7D32"/>
                </a:solidFill>
              </a:defRPr>
            </a:pPr>
            <a:r>
              <a:t>DEPARTMENT OF COMPUTER SCIENCE AND ENGINEERING</a:t>
            </a:r>
          </a:p>
          <a:p>
            <a:pPr>
              <a:defRPr sz="1200" b="1">
                <a:solidFill>
                  <a:srgbClr val="4A5568"/>
                </a:solidFill>
              </a:defRPr>
            </a:pPr>
            <a:r>
              <a:t>GIET UNIVERSITY, GUNUPUR, ODISHA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10058400" cy="20116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spcAft>
                <a:spcPts val="600"/>
              </a:spcAft>
              <a:defRPr sz="1300" b="1">
                <a:solidFill>
                  <a:srgbClr val="81C784"/>
                </a:solidFill>
              </a:defRPr>
            </a:pPr>
            <a:r>
              <a:t>MINOR / LEARNING PROJECT PRESENTATION ON</a:t>
            </a:r>
          </a:p>
          <a:p>
            <a:pPr>
              <a:spcAft>
                <a:spcPts val="600"/>
              </a:spcAft>
              <a:defRPr sz="2400" b="1">
                <a:solidFill>
                  <a:srgbClr val="FFFFFF"/>
                </a:solidFill>
              </a:defRPr>
            </a:pPr>
            <a:r>
              <a:t>ZYNTRA: A MODERN REAL-TIME CONTEXTUAL CHAT &amp; WORKPLACE APPLICATION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Full-Stack Realtime Architecture with WebSockets, Turso LibSQL, and Multi-Tenant Workspaces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4572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7D32"/>
                </a:solidFill>
              </a:defRPr>
            </a:pPr>
            <a:r>
              <a:t>Presented By:</a:t>
            </a:r>
          </a:p>
          <a:p>
            <a:pPr>
              <a:defRPr sz="1600" b="1">
                <a:solidFill>
                  <a:srgbClr val="1A202C"/>
                </a:solidFill>
              </a:defRPr>
            </a:pPr>
            <a:r>
              <a:t>Soumya Mohanty &amp; Team</a:t>
            </a:r>
          </a:p>
          <a:p>
            <a:pPr>
              <a:defRPr sz="1200">
                <a:solidFill>
                  <a:srgbClr val="4A5568"/>
                </a:solidFill>
              </a:defRPr>
            </a:pPr>
            <a:r>
              <a:t>Regd No: [Student Registration Number]</a:t>
            </a:r>
          </a:p>
          <a:p>
            <a:pPr>
              <a:defRPr sz="1200">
                <a:solidFill>
                  <a:srgbClr val="4A5568"/>
                </a:solidFill>
              </a:defRPr>
            </a:pPr>
            <a:r>
              <a:t>B.Tech, Computer Science &amp;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4389120"/>
            <a:ext cx="4572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7D32"/>
                </a:solidFill>
              </a:defRPr>
            </a:pPr>
            <a:r>
              <a:t>Under the Guidance of:</a:t>
            </a:r>
          </a:p>
          <a:p>
            <a:pPr>
              <a:defRPr sz="1600" b="1">
                <a:solidFill>
                  <a:srgbClr val="1A202C"/>
                </a:solidFill>
              </a:defRPr>
            </a:pPr>
            <a:r>
              <a:t>[Supervisor Name]</a:t>
            </a:r>
          </a:p>
          <a:p>
            <a:pPr>
              <a:defRPr sz="1200">
                <a:solidFill>
                  <a:srgbClr val="4A5568"/>
                </a:solidFill>
              </a:defRPr>
            </a:pPr>
            <a:r>
              <a:t>[Designation, Dept. of CSE]</a:t>
            </a:r>
          </a:p>
          <a:p>
            <a:pPr>
              <a:defRPr sz="1200">
                <a:solidFill>
                  <a:srgbClr val="4A5568"/>
                </a:solidFill>
              </a:defRPr>
            </a:pPr>
            <a:r>
              <a:t>GIET University, Gunupur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E7D32"/>
                </a:solidFill>
              </a:defRPr>
            </a:pPr>
            <a:r>
              <a:t>TABLE OF CONTENTS</a:t>
            </a:r>
          </a:p>
          <a:p>
            <a:pPr>
              <a:defRPr sz="2400" b="1">
                <a:solidFill>
                  <a:srgbClr val="1A202C"/>
                </a:solidFill>
              </a:defRPr>
            </a:pPr>
            <a:r>
              <a:t>Presentation Outlines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7772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1. System Design &amp; Architecture</a:t>
            </a:r>
          </a:p>
          <a:p>
            <a:pPr>
              <a:defRPr sz="1100">
                <a:solidFill>
                  <a:srgbClr val="E6F5E6"/>
                </a:solidFill>
              </a:defRPr>
            </a:pPr>
            <a:r>
              <a:t>High-level client-server micro-architecture, WebSocket pipeline, and edge storage 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606040"/>
            <a:ext cx="10332720" cy="7772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2. Database / Data Design</a:t>
            </a:r>
          </a:p>
          <a:p>
            <a:pPr>
              <a:defRPr sz="1100">
                <a:solidFill>
                  <a:srgbClr val="E6F5E6"/>
                </a:solidFill>
              </a:defRPr>
            </a:pPr>
            <a:r>
              <a:t>Turso LibSQL relational models: users, multi-tenant workspaces, channels, messages, and contacts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10332720" cy="7772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3. Coding &amp; Technical Implementation</a:t>
            </a:r>
          </a:p>
          <a:p>
            <a:pPr>
              <a:defRPr sz="1100">
                <a:solidFill>
                  <a:srgbClr val="E6F5E6"/>
                </a:solidFill>
              </a:defRPr>
            </a:pPr>
            <a:r>
              <a:t>Controller-service pattern, REST APIs, Socket.io duplex event handling, and Zustand state 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26280"/>
            <a:ext cx="10332720" cy="7772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4. Module Development &amp; Integration</a:t>
            </a:r>
          </a:p>
          <a:p>
            <a:pPr>
              <a:defRPr sz="1100">
                <a:solidFill>
                  <a:srgbClr val="E6F5E6"/>
                </a:solidFill>
              </a:defRPr>
            </a:pPr>
            <a:r>
              <a:t>Authentication, workspace code system, login workspace popup, live calling suite, and mobile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486400"/>
            <a:ext cx="10332720" cy="7772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5. Work Progress &amp; Weekly Report</a:t>
            </a:r>
          </a:p>
          <a:p>
            <a:pPr>
              <a:defRPr sz="1100">
                <a:solidFill>
                  <a:srgbClr val="E6F5E6"/>
                </a:solidFill>
              </a:defRPr>
            </a:pPr>
            <a:r>
              <a:t>Milestone timeline, automated browser test suite (26/26 passed), and Render cloud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E7D32"/>
                </a:solidFill>
              </a:defRPr>
            </a:pPr>
            <a:r>
              <a:t>1. SYSTEM DESIGN &amp; ARCHITECTURE</a:t>
            </a:r>
          </a:p>
          <a:p>
            <a:pPr>
              <a:defRPr sz="2400" b="1">
                <a:solidFill>
                  <a:srgbClr val="1A202C"/>
                </a:solidFill>
              </a:defRPr>
            </a:pPr>
            <a:r>
              <a:t>System Design &amp; Overall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2E7D32"/>
                </a:solidFill>
              </a:defRPr>
            </a:pPr>
            <a:r>
              <a:t>• Client Tier (Single-Page App): </a:t>
            </a:r>
          </a:p>
          <a:p>
            <a:pPr>
              <a:spcAft>
                <a:spcPts val="1000"/>
              </a:spcAft>
              <a:defRPr sz="1100">
                <a:solidFill>
                  <a:srgbClr val="4A5568"/>
                </a:solidFill>
              </a:defRPr>
            </a:pPr>
            <a:r>
              <a:t>  Built with React 19, Vite 8, and Tailwind CSS 4. Uses Zustand for lightweight global reactive state and Framer Motion for responsive fluid transitions.</a:t>
            </a:r>
          </a:p>
          <a:p>
            <a:pPr>
              <a:spcAft>
                <a:spcPts val="200"/>
              </a:spcAft>
              <a:defRPr b="1" sz="1300">
                <a:solidFill>
                  <a:srgbClr val="2E7D32"/>
                </a:solidFill>
              </a:defRPr>
            </a:pPr>
            <a:r>
              <a:t>• Gateway &amp; Realtime Tier: </a:t>
            </a:r>
          </a:p>
          <a:p>
            <a:pPr>
              <a:spcAft>
                <a:spcPts val="1000"/>
              </a:spcAft>
              <a:defRPr sz="1100">
                <a:solidFill>
                  <a:srgbClr val="4A5568"/>
                </a:solidFill>
              </a:defRPr>
            </a:pPr>
            <a:r>
              <a:t>  Node.js with Express 4 for RESTful endpoints. Socket.io 4 manages persistent full-duplex WebSocket connections with automatic fallback to HTTP long-polling.</a:t>
            </a:r>
          </a:p>
          <a:p>
            <a:pPr>
              <a:spcAft>
                <a:spcPts val="200"/>
              </a:spcAft>
              <a:defRPr b="1" sz="1300">
                <a:solidFill>
                  <a:srgbClr val="2E7D32"/>
                </a:solidFill>
              </a:defRPr>
            </a:pPr>
            <a:r>
              <a:t>• Edge Storage Tier (Turso / LibSQL): </a:t>
            </a:r>
          </a:p>
          <a:p>
            <a:pPr>
              <a:spcAft>
                <a:spcPts val="1000"/>
              </a:spcAft>
              <a:defRPr sz="1100">
                <a:solidFill>
                  <a:srgbClr val="4A5568"/>
                </a:solidFill>
              </a:defRPr>
            </a:pPr>
            <a:r>
              <a:t>  Cloud-native, SQLite-compatible edge database managed via @libsql/client. Provides distributed sub-millisecond query execution, zero cold starts, and resilience.</a:t>
            </a:r>
          </a:p>
          <a:p>
            <a:pPr>
              <a:spcAft>
                <a:spcPts val="200"/>
              </a:spcAft>
              <a:defRPr b="1" sz="1300">
                <a:solidFill>
                  <a:srgbClr val="2E7D32"/>
                </a:solidFill>
              </a:defRPr>
            </a:pPr>
            <a:r>
              <a:t>• Security &amp; Transport Layer: </a:t>
            </a:r>
          </a:p>
          <a:p>
            <a:pPr>
              <a:spcAft>
                <a:spcPts val="1000"/>
              </a:spcAft>
              <a:defRPr sz="1100">
                <a:solidFill>
                  <a:srgbClr val="4A5568"/>
                </a:solidFill>
              </a:defRPr>
            </a:pPr>
            <a:r>
              <a:t>  Stateless JSON Web Tokens (JWT) with Bearer headers, bcryptjs password hashing (salt rounds), and strict CORS authorization policies.</a:t>
            </a:r>
          </a:p>
        </p:txBody>
      </p:sp>
      <p:pic>
        <p:nvPicPr>
          <p:cNvPr id="5" name="Picture 4" descr="system_architecture_17917406395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4846320" cy="27049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E7D32"/>
                </a:solidFill>
              </a:defRPr>
            </a:pPr>
            <a:r>
              <a:t>1. SYSTEM DESIGN &amp; ARCHITECTURE</a:t>
            </a:r>
          </a:p>
          <a:p>
            <a:pPr>
              <a:defRPr sz="2400" b="1">
                <a:solidFill>
                  <a:srgbClr val="1A202C"/>
                </a:solidFill>
              </a:defRPr>
            </a:pPr>
            <a:r>
              <a:t>Real-Time WebSocket Event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22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⚡ Connection &amp; Handshake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Client connects with JWT auth token. Server verifies token, maps socket.id to user._id, and marks user status 'online'.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22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⚡ Room Subscriptions ('join_room')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Users automatically join workspace channel rooms (ws-channel-id) and private 1-on-1 DM rooms upon selection.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98480" cy="822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⚡ Instant Message Broadcast ('send_message')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Message is written to Turso DB and broadcasted simultaneously via io.to(roomId).emit('receive_message') in &lt;50ms.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698480" cy="822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⚡ Typing Indicators ('user_typing')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Debounced typing state broadcasts to room participants without persisting to DB, keeping latency negligible.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⚡ Live Reactions ('send_reaction')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Real-time emoji reaction updates dispatched instantly to all active listeners in the conversation room.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E7D32"/>
                </a:solidFill>
              </a:defRPr>
            </a:pPr>
            <a:r>
              <a:t>2. DATABASE / DATA DESIGN</a:t>
            </a:r>
          </a:p>
          <a:p>
            <a:pPr>
              <a:defRPr sz="2400" b="1">
                <a:solidFill>
                  <a:srgbClr val="1A202C"/>
                </a:solidFill>
              </a:defRPr>
            </a:pPr>
            <a:r>
              <a:t>Turso Edge Database Schema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TABLE: users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_id (PK, TEXT)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name, email (UNIQUE)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primaryUsername (UNIQUE)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password (bcrypt hash)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avatar, bio, status ('online')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contexts (JSON array)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74720" cy="2286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TABLE: workspaces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id (PK, TEXT)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name (TEXT)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joinCode (UNIQUE, 'WS-XXXXX')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description (TEXT)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settings (JSON object)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created_at (DATETIME)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3474720" cy="2286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TABLE: workspace_nodes (channels)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id (PK, TEXT)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workspace_id (FK -&gt; workspaces)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name (TEXT, e.g. 'general')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folder (TEXT, e.g. 'ENGINEERING')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isAnnouncement (BOOLEAN)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membersCount (INTEGER)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474720" cy="2194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TABLE: messages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id (PK, TEXT)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senderId (FK -&gt; users)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roomId (TEXT: channel/chat ID)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content (TEXT)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attachment (JSON metadata)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reactions (JSON array)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created_at (TIMESTAMP)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931920"/>
            <a:ext cx="3474720" cy="2194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TABLE: contacts &amp; groups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contacts: (id, user_id, contact_id, type)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groups: (id, name, description, avatar)</a:t>
            </a:r>
          </a:p>
          <a:p>
            <a:pPr>
              <a:spcAft>
                <a:spcPts val="200"/>
              </a:spcAft>
              <a:defRPr sz="950">
                <a:solidFill>
                  <a:srgbClr val="1A202C"/>
                </a:solidFill>
              </a:defRPr>
            </a:pPr>
            <a:r>
              <a:t>• group_members: (group_id, user_id, role)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E7D32"/>
                </a:solidFill>
              </a:defRPr>
            </a:pPr>
            <a:r>
              <a:t>3. CODING &amp; TECHNICAL IMPLEMENTATION</a:t>
            </a:r>
          </a:p>
          <a:p>
            <a:pPr>
              <a:defRPr sz="2400" b="1">
                <a:solidFill>
                  <a:srgbClr val="1A202C"/>
                </a:solidFill>
              </a:defRPr>
            </a:pPr>
            <a:r>
              <a:t>Modular Coding Architecture &amp;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F1F5F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⚙️ Backend MVC &amp; Storage Layer</a:t>
            </a:r>
          </a:p>
          <a:p>
            <a:pPr>
              <a:spcAft>
                <a:spcPts val="300"/>
              </a:spcAft>
              <a:defRPr sz="1050">
                <a:solidFill>
                  <a:srgbClr val="1A202C"/>
                </a:solidFill>
              </a:defRPr>
            </a:pPr>
            <a:r>
              <a:t>• Controllers (auth, workspace, message, contact) manage HTTP request lifecycle.</a:t>
            </a:r>
          </a:p>
          <a:p>
            <a:pPr>
              <a:spcAft>
                <a:spcPts val="300"/>
              </a:spcAft>
              <a:defRPr sz="1050">
                <a:solidFill>
                  <a:srgbClr val="1A202C"/>
                </a:solidFill>
              </a:defRPr>
            </a:pPr>
            <a:r>
              <a:t>• storageService.js: Unified query engine using Turso libSQL client.</a:t>
            </a:r>
          </a:p>
          <a:p>
            <a:pPr>
              <a:spcAft>
                <a:spcPts val="300"/>
              </a:spcAft>
              <a:defRPr sz="1050">
                <a:solidFill>
                  <a:srgbClr val="1A202C"/>
                </a:solidFill>
              </a:defRPr>
            </a:pPr>
            <a:r>
              <a:t>• Centralized error handling middleware with JWT token verification guards.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F1F5F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⚙️ Frontend State Management (Zustand)</a:t>
            </a:r>
          </a:p>
          <a:p>
            <a:pPr>
              <a:spcAft>
                <a:spcPts val="300"/>
              </a:spcAft>
              <a:defRPr sz="1050">
                <a:solidFill>
                  <a:srgbClr val="1A202C"/>
                </a:solidFill>
              </a:defRPr>
            </a:pPr>
            <a:r>
              <a:t>• useAuthStore: Manages session credentials, JWT tokens, and login workspace prompts.</a:t>
            </a:r>
          </a:p>
          <a:p>
            <a:pPr>
              <a:spcAft>
                <a:spcPts val="300"/>
              </a:spcAft>
              <a:defRPr sz="1050">
                <a:solidFill>
                  <a:srgbClr val="1A202C"/>
                </a:solidFill>
              </a:defRPr>
            </a:pPr>
            <a:r>
              <a:t>• useChatStore: Manages active channels, live messages, reactions, and workspace lists.</a:t>
            </a:r>
          </a:p>
          <a:p>
            <a:pPr>
              <a:spcAft>
                <a:spcPts val="300"/>
              </a:spcAft>
              <a:defRPr sz="1050">
                <a:solidFill>
                  <a:srgbClr val="1A202C"/>
                </a:solidFill>
              </a:defRPr>
            </a:pPr>
            <a:r>
              <a:t>• Zero prop-drilling; components subscribe selectively to slice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57800" cy="2240280"/>
          </a:xfrm>
          <a:prstGeom prst="roundRect">
            <a:avLst/>
          </a:prstGeom>
          <a:solidFill>
            <a:srgbClr val="F1F5F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⚙️ Realtime Socket Bridge</a:t>
            </a:r>
          </a:p>
          <a:p>
            <a:pPr>
              <a:spcAft>
                <a:spcPts val="300"/>
              </a:spcAft>
              <a:defRPr sz="1050">
                <a:solidFill>
                  <a:srgbClr val="1A202C"/>
                </a:solidFill>
              </a:defRPr>
            </a:pPr>
            <a:r>
              <a:t>• socketService.js: Resilient connection manager with reconnection backoff.</a:t>
            </a:r>
          </a:p>
          <a:p>
            <a:pPr>
              <a:spcAft>
                <a:spcPts val="300"/>
              </a:spcAft>
              <a:defRPr sz="1050">
                <a:solidFill>
                  <a:srgbClr val="1A202C"/>
                </a:solidFill>
              </a:defRPr>
            </a:pPr>
            <a:r>
              <a:t>• Client listens to 'receive_message', 'update_reaction', and 'user_typing' events.</a:t>
            </a:r>
          </a:p>
          <a:p>
            <a:pPr>
              <a:spcAft>
                <a:spcPts val="300"/>
              </a:spcAft>
              <a:defRPr sz="1050">
                <a:solidFill>
                  <a:srgbClr val="1A202C"/>
                </a:solidFill>
              </a:defRPr>
            </a:pPr>
            <a:r>
              <a:t>• Optimistic UI updates ensure instantaneous user experience before DB acknowledgment.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931920"/>
            <a:ext cx="5257800" cy="2240280"/>
          </a:xfrm>
          <a:prstGeom prst="roundRect">
            <a:avLst/>
          </a:prstGeom>
          <a:solidFill>
            <a:srgbClr val="F1F5F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⚙️ Vite Proxy &amp; Build Pipeline</a:t>
            </a:r>
          </a:p>
          <a:p>
            <a:pPr>
              <a:spcAft>
                <a:spcPts val="300"/>
              </a:spcAft>
              <a:defRPr sz="1050">
                <a:solidFill>
                  <a:srgbClr val="1A202C"/>
                </a:solidFill>
              </a:defRPr>
            </a:pPr>
            <a:r>
              <a:t>• Vite dev proxy forwards /api and /socket.io directly to Node.js backend on port 5000.</a:t>
            </a:r>
          </a:p>
          <a:p>
            <a:pPr>
              <a:spcAft>
                <a:spcPts val="300"/>
              </a:spcAft>
              <a:defRPr sz="1050">
                <a:solidFill>
                  <a:srgbClr val="1A202C"/>
                </a:solidFill>
              </a:defRPr>
            </a:pPr>
            <a:r>
              <a:t>• Tailwind CSS v4 compile pipeline with zero runtime CSS overhead.</a:t>
            </a:r>
          </a:p>
          <a:p>
            <a:pPr>
              <a:spcAft>
                <a:spcPts val="300"/>
              </a:spcAft>
              <a:defRPr sz="1050">
                <a:solidFill>
                  <a:srgbClr val="1A202C"/>
                </a:solidFill>
              </a:defRPr>
            </a:pPr>
            <a:r>
              <a:t>• Production bundle minified to &lt;500ms build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E7D32"/>
                </a:solidFill>
              </a:defRPr>
            </a:pPr>
            <a:r>
              <a:t>4. MODULE DEVELOPMENT &amp; INTEGRATION</a:t>
            </a:r>
          </a:p>
          <a:p>
            <a:pPr>
              <a:defRPr sz="2400" b="1">
                <a:solidFill>
                  <a:srgbClr val="1A202C"/>
                </a:solidFill>
              </a:defRPr>
            </a:pPr>
            <a:r>
              <a:t>Workspace Collaboration &amp; Login Selection Modal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2E7D32"/>
                </a:solidFill>
              </a:defRPr>
            </a:pPr>
            <a:r>
              <a:t>📌 Multi-Tenant Workspaces:</a:t>
            </a:r>
          </a:p>
          <a:p>
            <a:pPr>
              <a:spcAft>
                <a:spcPts val="1000"/>
              </a:spcAft>
              <a:defRPr sz="1100">
                <a:solidFill>
                  <a:srgbClr val="4A5568"/>
                </a:solidFill>
              </a:defRPr>
            </a:pPr>
            <a:r>
              <a:t>   Enables university departments (e.g. 'GIET', 'CSE') and team organizations to maintain isolated discussion channels with customized member roles.</a:t>
            </a:r>
          </a:p>
          <a:p>
            <a:pPr>
              <a:spcAft>
                <a:spcPts val="200"/>
              </a:spcAft>
              <a:defRPr b="1" sz="1300">
                <a:solidFill>
                  <a:srgbClr val="2E7D32"/>
                </a:solidFill>
              </a:defRPr>
            </a:pPr>
            <a:r>
              <a:t>📌 Unique 6-Character Join Codes:</a:t>
            </a:r>
          </a:p>
          <a:p>
            <a:pPr>
              <a:spcAft>
                <a:spcPts val="1000"/>
              </a:spcAft>
              <a:defRPr sz="1100">
                <a:solidFill>
                  <a:srgbClr val="4A5568"/>
                </a:solidFill>
              </a:defRPr>
            </a:pPr>
            <a:r>
              <a:t>   Generates alphanumeric invite codes (e.g. 'WS-ABDYU') with one-click clipboard copying for frictionless team onboarding.</a:t>
            </a:r>
          </a:p>
          <a:p>
            <a:pPr>
              <a:spcAft>
                <a:spcPts val="200"/>
              </a:spcAft>
              <a:defRPr b="1" sz="1300">
                <a:solidFill>
                  <a:srgbClr val="2E7D32"/>
                </a:solidFill>
              </a:defRPr>
            </a:pPr>
            <a:r>
              <a:t>📌 Post-Login Workspace Selection Popup:</a:t>
            </a:r>
          </a:p>
          <a:p>
            <a:pPr>
              <a:spcAft>
                <a:spcPts val="1000"/>
              </a:spcAft>
              <a:defRPr sz="1100">
                <a:solidFill>
                  <a:srgbClr val="4A5568"/>
                </a:solidFill>
              </a:defRPr>
            </a:pPr>
            <a:r>
              <a:t>   Automatically presents an interactive modal immediately after login prompting users to select a workspace, enter an invite code, or create a new organization.</a:t>
            </a:r>
          </a:p>
          <a:p>
            <a:pPr>
              <a:spcAft>
                <a:spcPts val="200"/>
              </a:spcAft>
              <a:defRPr b="1" sz="1300">
                <a:solidFill>
                  <a:srgbClr val="2E7D32"/>
                </a:solidFill>
              </a:defRPr>
            </a:pPr>
            <a:r>
              <a:t>📌 Hierarchical Channel Categorization:</a:t>
            </a:r>
          </a:p>
          <a:p>
            <a:pPr>
              <a:spcAft>
                <a:spcPts val="1000"/>
              </a:spcAft>
              <a:defRPr sz="1100">
                <a:solidFill>
                  <a:srgbClr val="4A5568"/>
                </a:solidFill>
              </a:defRPr>
            </a:pPr>
            <a:r>
              <a:t>   Supports channel trees grouped by department folders (e.g. 'ENGINEERING' folder containing '#frontend-team' and '#backend-team').</a:t>
            </a:r>
          </a:p>
        </p:txBody>
      </p:sp>
      <p:pic>
        <p:nvPicPr>
          <p:cNvPr id="5" name="Picture 4" descr="04_workspace_popup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E7D32"/>
                </a:solidFill>
              </a:defRPr>
            </a:pPr>
            <a:r>
              <a:t>4. MODULE DEVELOPMENT &amp; INTEGRATION</a:t>
            </a:r>
          </a:p>
          <a:p>
            <a:pPr>
              <a:defRPr sz="2400" b="1">
                <a:solidFill>
                  <a:srgbClr val="1A202C"/>
                </a:solidFill>
              </a:defRPr>
            </a:pPr>
            <a:r>
              <a:t>Real-Time Chat Area &amp; Mobile Drawer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2E7D32"/>
                </a:solidFill>
              </a:defRPr>
            </a:pPr>
            <a:r>
              <a:t>✨ Rich Message Composer:</a:t>
            </a:r>
          </a:p>
          <a:p>
            <a:pPr>
              <a:spcAft>
                <a:spcPts val="800"/>
              </a:spcAft>
              <a:defRPr sz="1000">
                <a:solidFill>
                  <a:srgbClr val="4A5568"/>
                </a:solidFill>
              </a:defRPr>
            </a:pPr>
            <a:r>
              <a:t>   Auto-expanding textarea, emoji picker popup, attachment preview, and instantaneous dispatch.</a:t>
            </a:r>
          </a:p>
          <a:p>
            <a:pPr>
              <a:spcAft>
                <a:spcPts val="200"/>
              </a:spcAft>
              <a:defRPr b="1" sz="1200">
                <a:solidFill>
                  <a:srgbClr val="2E7D32"/>
                </a:solidFill>
              </a:defRPr>
            </a:pPr>
            <a:r>
              <a:t>✨ Calling &amp; Media Suite:</a:t>
            </a:r>
          </a:p>
          <a:p>
            <a:pPr>
              <a:spcAft>
                <a:spcPts val="800"/>
              </a:spcAft>
              <a:defRPr sz="1000">
                <a:solidFill>
                  <a:srgbClr val="4A5568"/>
                </a:solidFill>
              </a:defRPr>
            </a:pPr>
            <a:r>
              <a:t>   Interactive Voice Call (Opus audio) and Video Call modals with screen share, mute, and camera toggles.</a:t>
            </a:r>
          </a:p>
          <a:p>
            <a:pPr>
              <a:spcAft>
                <a:spcPts val="200"/>
              </a:spcAft>
              <a:defRPr b="1" sz="1200">
                <a:solidFill>
                  <a:srgbClr val="2E7D32"/>
                </a:solidFill>
              </a:defRPr>
            </a:pPr>
            <a:r>
              <a:t>✨ Channel Info Drawer:</a:t>
            </a:r>
          </a:p>
          <a:p>
            <a:pPr>
              <a:spcAft>
                <a:spcPts val="800"/>
              </a:spcAft>
              <a:defRPr sz="1000">
                <a:solidFill>
                  <a:srgbClr val="4A5568"/>
                </a:solidFill>
              </a:defRPr>
            </a:pPr>
            <a:r>
              <a:t>   Slide-over right panel detailing channel members, shared media tallies (photos &amp; docs), and leave/mute controls.</a:t>
            </a:r>
          </a:p>
          <a:p>
            <a:pPr>
              <a:spcAft>
                <a:spcPts val="200"/>
              </a:spcAft>
              <a:defRPr b="1" sz="1200">
                <a:solidFill>
                  <a:srgbClr val="2E7D32"/>
                </a:solidFill>
              </a:defRPr>
            </a:pPr>
            <a:r>
              <a:t>✨ Responsive Mobile Architecture (&lt;768px):</a:t>
            </a:r>
          </a:p>
          <a:p>
            <a:pPr>
              <a:spcAft>
                <a:spcPts val="800"/>
              </a:spcAft>
              <a:defRPr sz="1000">
                <a:solidFill>
                  <a:srgbClr val="4A5568"/>
                </a:solidFill>
              </a:defRPr>
            </a:pPr>
            <a:r>
              <a:t>   Single-column responsive view with full-width conversation list, slide-in chat area, and dynamic 'Back to conversations' navigation.</a:t>
            </a:r>
          </a:p>
        </p:txBody>
      </p:sp>
      <p:pic>
        <p:nvPicPr>
          <p:cNvPr id="5" name="Picture 4" descr="07_chat_view_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63040"/>
            <a:ext cx="3840480" cy="2400300"/>
          </a:xfrm>
          <a:prstGeom prst="rect">
            <a:avLst/>
          </a:prstGeom>
        </p:spPr>
      </p:pic>
      <p:pic>
        <p:nvPicPr>
          <p:cNvPr id="6" name="Picture 5" descr="16_mobile_responsive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463040"/>
            <a:ext cx="1737360" cy="3090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E7D32"/>
                </a:solidFill>
              </a:defRPr>
            </a:pPr>
            <a:r>
              <a:t>5. WORK PROGRESS &amp; WEEKLY REPORT</a:t>
            </a:r>
          </a:p>
          <a:p>
            <a:pPr>
              <a:defRPr sz="2400" b="1">
                <a:solidFill>
                  <a:srgbClr val="1A202C"/>
                </a:solidFill>
              </a:defRPr>
            </a:pPr>
            <a:r>
              <a:t>Project Timeline &amp; Weekly Progress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t>🗓️ Weeks 1 - 2: Architecture &amp; Schema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Requirements analysis, architecture design, tech stack selection (React + Node.js + Turso), and initial DB schema.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t>🗓️ Weeks 3 - 4: Core Backend &amp; Real-Time Engine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REST API development (Auth, Users, Contacts), Socket.io server integration, and Turso libSQL setup.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9848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t>🗓️ Weeks 5 - 6: Frontend UI &amp; State Architecture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React 19 SPA design, Zustand stores (authStore, chatStore), message composer, and emoji picker.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69848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t>🗓️ Weeks 7 - 8: Workspace System &amp; Calling Suite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Multi-tenant workspace engine, 6-char invite codes, login workspace popup, voice &amp; video modals.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t>🗓️ Weeks 9 - 10: Testing, Mobile Tuning &amp; Cloud Deploy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Puppeteer browser automated testing (26/26 passed), mobile responsiveness, and Render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400" b="1">
                <a:solidFill>
                  <a:srgbClr val="2E7D32"/>
                </a:solidFill>
              </a:defRPr>
            </a:pPr>
            <a:r>
              <a:t>Q &amp; A</a:t>
            </a:r>
          </a:p>
          <a:p>
            <a:pPr>
              <a:spcAft>
                <a:spcPts val="1000"/>
              </a:spcAft>
              <a:defRPr sz="2800" b="1">
                <a:solidFill>
                  <a:srgbClr val="1A202C"/>
                </a:solidFill>
              </a:defRPr>
            </a:pPr>
            <a:r>
              <a:t>Thank you all for your attention!</a:t>
            </a:r>
          </a:p>
          <a:p>
            <a:pPr>
              <a:spcAft>
                <a:spcPts val="2400"/>
              </a:spcAft>
              <a:defRPr sz="2200">
                <a:solidFill>
                  <a:srgbClr val="4A5568"/>
                </a:solidFill>
              </a:defRPr>
            </a:pPr>
            <a:r>
              <a:t>Any questions?</a:t>
            </a:r>
          </a:p>
          <a:p>
            <a:pPr>
              <a:spcAft>
                <a:spcPts val="400"/>
              </a:spcAft>
              <a:defRPr sz="1400" b="1">
                <a:solidFill>
                  <a:srgbClr val="2E7D32"/>
                </a:solidFill>
              </a:defRPr>
            </a:pPr>
            <a:r>
              <a:t>🌐 Live Application: https://zyntra-oau1.onrender.com/</a:t>
            </a:r>
          </a:p>
          <a:p>
            <a:pPr>
              <a:defRPr sz="1400" b="1">
                <a:solidFill>
                  <a:srgbClr val="4A5568"/>
                </a:solidFill>
              </a:defRPr>
            </a:pPr>
            <a:r>
              <a:t>💻 GitHub Repository: https://github.com/manan933/Zyntra_Chat_Application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